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6858000" cx="12192000"/>
  <p:notesSz cx="6858000" cy="9144000"/>
  <p:embeddedFontLst>
    <p:embeddedFont>
      <p:font typeface="Inter SemiBold"/>
      <p:regular r:id="rId19"/>
      <p:bold r:id="rId20"/>
      <p:italic r:id="rId21"/>
      <p:boldItalic r:id="rId22"/>
    </p:embeddedFont>
    <p:embeddedFont>
      <p:font typeface="Inter"/>
      <p:regular r:id="rId23"/>
      <p:bold r:id="rId24"/>
      <p:italic r:id="rId25"/>
      <p:boldItalic r:id="rId26"/>
    </p:embeddedFont>
    <p:embeddedFont>
      <p:font typeface="Urbanist SemiBold"/>
      <p:regular r:id="rId27"/>
      <p:bold r:id="rId28"/>
      <p:italic r:id="rId29"/>
      <p:boldItalic r:id="rId30"/>
    </p:embeddedFont>
    <p:embeddedFont>
      <p:font typeface="Urbanist"/>
      <p:regular r:id="rId31"/>
      <p:bold r:id="rId32"/>
      <p:italic r:id="rId33"/>
      <p:boldItalic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A2B881F-807E-42D7-9285-3DA08A9352FA}">
  <a:tblStyle styleId="{AA2B881F-807E-42D7-9285-3DA08A9352FA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SemiBold-bold.fntdata"/><Relationship Id="rId22" Type="http://schemas.openxmlformats.org/officeDocument/2006/relationships/font" Target="fonts/InterSemiBold-boldItalic.fntdata"/><Relationship Id="rId21" Type="http://schemas.openxmlformats.org/officeDocument/2006/relationships/font" Target="fonts/InterSemiBold-italic.fntdata"/><Relationship Id="rId24" Type="http://schemas.openxmlformats.org/officeDocument/2006/relationships/font" Target="fonts/Inter-bold.fntdata"/><Relationship Id="rId23" Type="http://schemas.openxmlformats.org/officeDocument/2006/relationships/font" Target="fonts/Inter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Inter-boldItalic.fntdata"/><Relationship Id="rId25" Type="http://schemas.openxmlformats.org/officeDocument/2006/relationships/font" Target="fonts/Inter-italic.fntdata"/><Relationship Id="rId28" Type="http://schemas.openxmlformats.org/officeDocument/2006/relationships/font" Target="fonts/UrbanistSemiBold-bold.fntdata"/><Relationship Id="rId27" Type="http://schemas.openxmlformats.org/officeDocument/2006/relationships/font" Target="fonts/UrbanistSemiBold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UrbanistSemiBold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Urbanist-regular.fntdata"/><Relationship Id="rId30" Type="http://schemas.openxmlformats.org/officeDocument/2006/relationships/font" Target="fonts/UrbanistSemiBold-boldItalic.fntdata"/><Relationship Id="rId11" Type="http://schemas.openxmlformats.org/officeDocument/2006/relationships/slide" Target="slides/slide5.xml"/><Relationship Id="rId33" Type="http://schemas.openxmlformats.org/officeDocument/2006/relationships/font" Target="fonts/Urbanist-italic.fntdata"/><Relationship Id="rId10" Type="http://schemas.openxmlformats.org/officeDocument/2006/relationships/slide" Target="slides/slide4.xml"/><Relationship Id="rId32" Type="http://schemas.openxmlformats.org/officeDocument/2006/relationships/font" Target="fonts/Urbanist-bold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34" Type="http://schemas.openxmlformats.org/officeDocument/2006/relationships/font" Target="fonts/Urbanist-boldItalic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InterSemiBold-regular.fntdata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Relationship Id="rId4" Type="http://schemas.openxmlformats.org/officeDocument/2006/relationships/image" Target="../media/image5.png"/><Relationship Id="rId5" Type="http://schemas.openxmlformats.org/officeDocument/2006/relationships/image" Target="../media/image4.png"/><Relationship Id="rId6" Type="http://schemas.openxmlformats.org/officeDocument/2006/relationships/image" Target="../media/image9.png"/><Relationship Id="rId7" Type="http://schemas.openxmlformats.org/officeDocument/2006/relationships/image" Target="../media/image2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Relationship Id="rId4" Type="http://schemas.openxmlformats.org/officeDocument/2006/relationships/image" Target="../media/image16.png"/><Relationship Id="rId11" Type="http://schemas.openxmlformats.org/officeDocument/2006/relationships/image" Target="../media/image12.png"/><Relationship Id="rId10" Type="http://schemas.openxmlformats.org/officeDocument/2006/relationships/image" Target="../media/image21.png"/><Relationship Id="rId9" Type="http://schemas.openxmlformats.org/officeDocument/2006/relationships/image" Target="../media/image3.png"/><Relationship Id="rId5" Type="http://schemas.openxmlformats.org/officeDocument/2006/relationships/image" Target="../media/image8.png"/><Relationship Id="rId6" Type="http://schemas.openxmlformats.org/officeDocument/2006/relationships/image" Target="../media/image13.png"/><Relationship Id="rId7" Type="http://schemas.openxmlformats.org/officeDocument/2006/relationships/image" Target="../media/image15.png"/><Relationship Id="rId8" Type="http://schemas.openxmlformats.org/officeDocument/2006/relationships/image" Target="../media/image2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Relationship Id="rId4" Type="http://schemas.openxmlformats.org/officeDocument/2006/relationships/image" Target="../media/image7.png"/><Relationship Id="rId5" Type="http://schemas.openxmlformats.org/officeDocument/2006/relationships/image" Target="../media/image6.png"/><Relationship Id="rId6" Type="http://schemas.openxmlformats.org/officeDocument/2006/relationships/image" Target="../media/image1.png"/><Relationship Id="rId7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9.png"/></Relationships>
</file>

<file path=ppt/slides/_rels/slide6.xml.rels><?xml version="1.0" encoding="UTF-8" standalone="yes"?><Relationships xmlns="http://schemas.openxmlformats.org/package/2006/relationships"><Relationship Id="rId11" Type="http://schemas.openxmlformats.org/officeDocument/2006/relationships/image" Target="../media/image22.png"/><Relationship Id="rId10" Type="http://schemas.openxmlformats.org/officeDocument/2006/relationships/image" Target="../media/image14.png"/><Relationship Id="rId13" Type="http://schemas.openxmlformats.org/officeDocument/2006/relationships/image" Target="../media/image32.png"/><Relationship Id="rId12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Relationship Id="rId4" Type="http://schemas.openxmlformats.org/officeDocument/2006/relationships/image" Target="../media/image26.png"/><Relationship Id="rId9" Type="http://schemas.openxmlformats.org/officeDocument/2006/relationships/image" Target="../media/image39.png"/><Relationship Id="rId5" Type="http://schemas.openxmlformats.org/officeDocument/2006/relationships/image" Target="../media/image28.png"/><Relationship Id="rId6" Type="http://schemas.openxmlformats.org/officeDocument/2006/relationships/image" Target="../media/image27.png"/><Relationship Id="rId7" Type="http://schemas.openxmlformats.org/officeDocument/2006/relationships/image" Target="../media/image30.png"/><Relationship Id="rId8" Type="http://schemas.openxmlformats.org/officeDocument/2006/relationships/image" Target="../media/image3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Relationship Id="rId4" Type="http://schemas.openxmlformats.org/officeDocument/2006/relationships/image" Target="../media/image33.png"/><Relationship Id="rId5" Type="http://schemas.openxmlformats.org/officeDocument/2006/relationships/image" Target="../media/image18.png"/><Relationship Id="rId6" Type="http://schemas.openxmlformats.org/officeDocument/2006/relationships/image" Target="../media/image3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Relationship Id="rId4" Type="http://schemas.openxmlformats.org/officeDocument/2006/relationships/image" Target="../media/image36.png"/><Relationship Id="rId5" Type="http://schemas.openxmlformats.org/officeDocument/2006/relationships/image" Target="../media/image34.png"/><Relationship Id="rId6" Type="http://schemas.openxmlformats.org/officeDocument/2006/relationships/image" Target="../media/image37.png"/><Relationship Id="rId7" Type="http://schemas.openxmlformats.org/officeDocument/2006/relationships/image" Target="../media/image3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Relationship Id="rId4" Type="http://schemas.openxmlformats.org/officeDocument/2006/relationships/image" Target="../media/image41.png"/><Relationship Id="rId5" Type="http://schemas.openxmlformats.org/officeDocument/2006/relationships/image" Target="../media/image4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Relationship Id="rId6" Type="http://schemas.openxmlformats.org/officeDocument/2006/relationships/image" Target="../media/image29.png"/><Relationship Id="rId7" Type="http://schemas.openxmlformats.org/officeDocument/2006/relationships/image" Target="../media/image43.png"/></Relationships>
</file>

<file path=ppt/slides/_rels/slide11.xml.rels><?xml version="1.0" encoding="UTF-8" standalone="yes"?><Relationships xmlns="http://schemas.openxmlformats.org/package/2006/relationships"><Relationship Id="rId11" Type="http://schemas.openxmlformats.org/officeDocument/2006/relationships/image" Target="../media/image51.png"/><Relationship Id="rId10" Type="http://schemas.openxmlformats.org/officeDocument/2006/relationships/image" Target="../media/image42.png"/><Relationship Id="rId12" Type="http://schemas.openxmlformats.org/officeDocument/2006/relationships/image" Target="../media/image44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Relationship Id="rId4" Type="http://schemas.openxmlformats.org/officeDocument/2006/relationships/image" Target="../media/image48.png"/><Relationship Id="rId9" Type="http://schemas.openxmlformats.org/officeDocument/2006/relationships/image" Target="../media/image47.png"/><Relationship Id="rId5" Type="http://schemas.openxmlformats.org/officeDocument/2006/relationships/image" Target="../media/image52.png"/><Relationship Id="rId6" Type="http://schemas.openxmlformats.org/officeDocument/2006/relationships/image" Target="../media/image45.png"/><Relationship Id="rId7" Type="http://schemas.openxmlformats.org/officeDocument/2006/relationships/image" Target="../media/image49.png"/><Relationship Id="rId8" Type="http://schemas.openxmlformats.org/officeDocument/2006/relationships/image" Target="../media/image4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527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5867400"/>
            <a:ext cx="11029950" cy="409575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581025" y="581025"/>
            <a:ext cx="2124075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0B981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PROJECT PRESENTATION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581025" y="857250"/>
            <a:ext cx="11581447" cy="12266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An IoT-Based </a:t>
            </a:r>
            <a:r>
              <a:rPr b="1" i="0" lang="en-US" sz="4200" u="none" cap="none" strike="noStrik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Intrusion Detection System</a:t>
            </a:r>
            <a:r>
              <a:rPr b="1" i="0" lang="en-US" sz="42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Using Machine Learning &amp; Deep Learning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581025" y="2274391"/>
            <a:ext cx="8572500" cy="959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Securing heterogeneous and resource-constrained Internet of Things environments against sophisticated network cyberattacks using soft-voting ensemble modeling.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581025" y="6067425"/>
            <a:ext cx="2828925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64748B"/>
                </a:solidFill>
                <a:latin typeface="Urbanist"/>
                <a:ea typeface="Urbanist"/>
                <a:cs typeface="Urbanist"/>
                <a:sym typeface="Urbanist"/>
              </a:rPr>
              <a:t>Domain:</a:t>
            </a:r>
            <a:r>
              <a:rPr b="0" i="0" lang="en-US" sz="1350" u="none" cap="none" strike="noStrike">
                <a:solidFill>
                  <a:srgbClr val="64748B"/>
                </a:solidFill>
                <a:latin typeface="Urbanist"/>
                <a:ea typeface="Urbanist"/>
                <a:cs typeface="Urbanist"/>
                <a:sym typeface="Urbanist"/>
              </a:rPr>
              <a:t> Cybersecurity / Data Science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8867775" y="6067425"/>
            <a:ext cx="27432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64748B"/>
                </a:solidFill>
                <a:latin typeface="Urbanist"/>
                <a:ea typeface="Urbanist"/>
                <a:cs typeface="Urbanist"/>
                <a:sym typeface="Urbanist"/>
              </a:rPr>
              <a:t>Dataset:</a:t>
            </a:r>
            <a:r>
              <a:rPr b="0" i="0" lang="en-US" sz="1350" u="none" cap="none" strike="noStrike">
                <a:solidFill>
                  <a:srgbClr val="64748B"/>
                </a:solidFill>
                <a:latin typeface="Urbanist"/>
                <a:ea typeface="Urbanist"/>
                <a:cs typeface="Urbanist"/>
                <a:sym typeface="Urbanist"/>
              </a:rPr>
              <a:t> RT-IoT2022 Network Traffic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527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5" name="Google Shape;9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6" name="Google Shape;96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336750"/>
            <a:ext cx="5276850" cy="2956024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4"/>
          <p:cNvSpPr txBox="1"/>
          <p:nvPr/>
        </p:nvSpPr>
        <p:spPr>
          <a:xfrm>
            <a:off x="581025" y="2522487"/>
            <a:ext cx="5540692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38BDF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The IoT Paradigm Shift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581025" y="3008262"/>
            <a:ext cx="5276850" cy="8684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The rapid proliferation of interconnected devices (sensors, actuators, smart appliances) has revolutionized automation across smart homes, healthcare, and infrastructure industries.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581025" y="4057650"/>
            <a:ext cx="5276850" cy="8684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However, this extreme heterogeneity and high data velocity create massive attack surfaces that traditional network defenses struggle to handle.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6657975" y="2622500"/>
            <a:ext cx="4900612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38BDF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Vulnerabilities in Focus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6657975" y="3041600"/>
            <a:ext cx="4667250" cy="578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6225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Resource Constraints:</a:t>
            </a:r>
            <a:r>
              <a:rPr b="0" i="0" lang="en-US" sz="142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Low memory &amp; processing caps make heavy cryptographic solutions unviable.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6657975" y="3734841"/>
            <a:ext cx="4667250" cy="578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6225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Protocol Exposure:</a:t>
            </a:r>
            <a:r>
              <a:rPr b="0" i="0" lang="en-US" sz="142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Broad use of MQTT, CoAP, and HTTP vectors introduces unique flaws.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6657975" y="4428083"/>
            <a:ext cx="4667250" cy="578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6225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Evolving Threats:</a:t>
            </a:r>
            <a:r>
              <a:rPr b="0" i="0" lang="en-US" sz="142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Zero-day exploits bypass older signature-based lookup models.</a:t>
            </a:r>
            <a:endParaRPr/>
          </a:p>
        </p:txBody>
      </p:sp>
      <p:pic>
        <p:nvPicPr>
          <p:cNvPr descr="image.png" id="104" name="Google Shape;104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57975" y="3084462"/>
            <a:ext cx="18097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5" name="Google Shape;105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657975" y="3777704"/>
            <a:ext cx="18097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6" name="Google Shape;106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657975" y="4470945"/>
            <a:ext cx="18097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752475" y="581025"/>
            <a:ext cx="11401425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50" u="none" cap="none" strike="noStrike">
                <a:solidFill>
                  <a:srgbClr val="10B981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1. Introduction &amp; Problem Background</a:t>
            </a:r>
            <a:endParaRPr/>
          </a:p>
        </p:txBody>
      </p:sp>
      <p:sp>
        <p:nvSpPr>
          <p:cNvPr id="108" name="Google Shape;108;p14"/>
          <p:cNvSpPr/>
          <p:nvPr/>
        </p:nvSpPr>
        <p:spPr>
          <a:xfrm>
            <a:off x="581025" y="581025"/>
            <a:ext cx="47625" cy="43815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527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3" name="Google Shape;11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4" name="Google Shape;114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1928961"/>
            <a:ext cx="3524250" cy="377145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5" name="Google Shape;115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33875" y="1928961"/>
            <a:ext cx="3524250" cy="377145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6" name="Google Shape;116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86725" y="1928961"/>
            <a:ext cx="3524250" cy="377145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7" name="Google Shape;117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28675" y="2271861"/>
            <a:ext cx="66675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5"/>
          <p:cNvSpPr txBox="1"/>
          <p:nvPr/>
        </p:nvSpPr>
        <p:spPr>
          <a:xfrm>
            <a:off x="828675" y="3129111"/>
            <a:ext cx="2620327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38BDF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The Threat Landscape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828675" y="3729186"/>
            <a:ext cx="3028950" cy="14473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IoT ecosystems are prime targets for multi-class intrusions like DDoS, DoS, brute force attacks, reconnaissance, and malicious data theft patterns.</a:t>
            </a:r>
            <a:endParaRPr/>
          </a:p>
        </p:txBody>
      </p:sp>
      <p:pic>
        <p:nvPicPr>
          <p:cNvPr descr="image.png" id="120" name="Google Shape;120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581525" y="2271861"/>
            <a:ext cx="66675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5"/>
          <p:cNvSpPr txBox="1"/>
          <p:nvPr/>
        </p:nvSpPr>
        <p:spPr>
          <a:xfrm>
            <a:off x="4581525" y="3129111"/>
            <a:ext cx="2510313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38BDF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Analytical Challenges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4581525" y="3729186"/>
            <a:ext cx="3028950" cy="14473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Network logs contain noisy, high-dimensional spaces with several dozen features per observation. Class imbalance threatens minor attack detection rates.</a:t>
            </a:r>
            <a:endParaRPr/>
          </a:p>
        </p:txBody>
      </p:sp>
      <p:pic>
        <p:nvPicPr>
          <p:cNvPr descr="image.png" id="123" name="Google Shape;123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334375" y="2271861"/>
            <a:ext cx="66675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5"/>
          <p:cNvSpPr txBox="1"/>
          <p:nvPr/>
        </p:nvSpPr>
        <p:spPr>
          <a:xfrm>
            <a:off x="8334375" y="3129111"/>
            <a:ext cx="2270283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38BDF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The Core Objective</a:t>
            </a:r>
            <a:endParaRPr/>
          </a:p>
        </p:txBody>
      </p:sp>
      <p:sp>
        <p:nvSpPr>
          <p:cNvPr id="125" name="Google Shape;125;p15"/>
          <p:cNvSpPr txBox="1"/>
          <p:nvPr/>
        </p:nvSpPr>
        <p:spPr>
          <a:xfrm>
            <a:off x="8334375" y="3729186"/>
            <a:ext cx="3028950" cy="14473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Mapping complex structural network traffic matrices to true multi-class target actions while optimizing for low-latency, real-time prediction environments.</a:t>
            </a:r>
            <a:endParaRPr/>
          </a:p>
        </p:txBody>
      </p:sp>
      <p:pic>
        <p:nvPicPr>
          <p:cNvPr descr="image.png" id="126" name="Google Shape;126;p1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009650" y="2433786"/>
            <a:ext cx="3048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7" name="Google Shape;127;p1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515350" y="2433786"/>
            <a:ext cx="3048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5"/>
          <p:cNvSpPr txBox="1"/>
          <p:nvPr/>
        </p:nvSpPr>
        <p:spPr>
          <a:xfrm>
            <a:off x="752475" y="581025"/>
            <a:ext cx="11401425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50" u="none" cap="none" strike="noStrike">
                <a:solidFill>
                  <a:srgbClr val="10B981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2. Problem Statement</a:t>
            </a:r>
            <a:endParaRPr/>
          </a:p>
        </p:txBody>
      </p:sp>
      <p:sp>
        <p:nvSpPr>
          <p:cNvPr id="129" name="Google Shape;129;p15"/>
          <p:cNvSpPr/>
          <p:nvPr/>
        </p:nvSpPr>
        <p:spPr>
          <a:xfrm>
            <a:off x="581025" y="581025"/>
            <a:ext cx="47625" cy="43815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527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4" name="Google Shape;13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5" name="Google Shape;135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1990725"/>
            <a:ext cx="5276850" cy="3648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6" name="Google Shape;136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1990725"/>
            <a:ext cx="5276850" cy="3648075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6"/>
          <p:cNvSpPr txBox="1"/>
          <p:nvPr/>
        </p:nvSpPr>
        <p:spPr>
          <a:xfrm>
            <a:off x="923925" y="2333625"/>
            <a:ext cx="4820602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38BDF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Key System Inclusions</a:t>
            </a:r>
            <a:endParaRPr/>
          </a:p>
        </p:txBody>
      </p:sp>
      <p:sp>
        <p:nvSpPr>
          <p:cNvPr id="138" name="Google Shape;138;p16"/>
          <p:cNvSpPr txBox="1"/>
          <p:nvPr/>
        </p:nvSpPr>
        <p:spPr>
          <a:xfrm>
            <a:off x="6677025" y="2333625"/>
            <a:ext cx="4820602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38BDF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Project Boundaries &amp; Exclusions</a:t>
            </a:r>
            <a:endParaRPr/>
          </a:p>
        </p:txBody>
      </p:sp>
      <p:sp>
        <p:nvSpPr>
          <p:cNvPr id="139" name="Google Shape;139;p16"/>
          <p:cNvSpPr txBox="1"/>
          <p:nvPr/>
        </p:nvSpPr>
        <p:spPr>
          <a:xfrm>
            <a:off x="1352550" y="2752725"/>
            <a:ext cx="41624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Complex multi-file CSV extraction &amp; RAM-optimized data downcasting layers.</a:t>
            </a:r>
            <a:endParaRPr/>
          </a:p>
        </p:txBody>
      </p:sp>
      <p:sp>
        <p:nvSpPr>
          <p:cNvPr id="140" name="Google Shape;140;p16"/>
          <p:cNvSpPr txBox="1"/>
          <p:nvPr/>
        </p:nvSpPr>
        <p:spPr>
          <a:xfrm>
            <a:off x="1352550" y="3600450"/>
            <a:ext cx="41624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Advanced imbalanced compensation via synthetic sample rendering (SMOTE).</a:t>
            </a:r>
            <a:endParaRPr/>
          </a:p>
        </p:txBody>
      </p:sp>
      <p:sp>
        <p:nvSpPr>
          <p:cNvPr id="141" name="Google Shape;141;p16"/>
          <p:cNvSpPr txBox="1"/>
          <p:nvPr/>
        </p:nvSpPr>
        <p:spPr>
          <a:xfrm>
            <a:off x="1352550" y="4448175"/>
            <a:ext cx="41624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Hybrid modeling spanning tree-based frameworks alongside deep structures.</a:t>
            </a:r>
            <a:endParaRPr/>
          </a:p>
        </p:txBody>
      </p:sp>
      <p:sp>
        <p:nvSpPr>
          <p:cNvPr id="142" name="Google Shape;142;p16"/>
          <p:cNvSpPr txBox="1"/>
          <p:nvPr/>
        </p:nvSpPr>
        <p:spPr>
          <a:xfrm>
            <a:off x="7105650" y="2752725"/>
            <a:ext cx="41624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Live operational hardware inline network deployments are excluded.</a:t>
            </a:r>
            <a:endParaRPr/>
          </a:p>
        </p:txBody>
      </p:sp>
      <p:sp>
        <p:nvSpPr>
          <p:cNvPr id="143" name="Google Shape;143;p16"/>
          <p:cNvSpPr txBox="1"/>
          <p:nvPr/>
        </p:nvSpPr>
        <p:spPr>
          <a:xfrm>
            <a:off x="7105650" y="3600450"/>
            <a:ext cx="41624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Scaled cloud orchestration systems like Apache Spark are out of bounds.</a:t>
            </a:r>
            <a:endParaRPr/>
          </a:p>
        </p:txBody>
      </p:sp>
      <p:sp>
        <p:nvSpPr>
          <p:cNvPr id="144" name="Google Shape;144;p16"/>
          <p:cNvSpPr txBox="1"/>
          <p:nvPr/>
        </p:nvSpPr>
        <p:spPr>
          <a:xfrm>
            <a:off x="7105650" y="4448175"/>
            <a:ext cx="41624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Defense mechanisms countering adversarial machine evasion attacks are omitted.</a:t>
            </a:r>
            <a:endParaRPr/>
          </a:p>
        </p:txBody>
      </p:sp>
      <p:pic>
        <p:nvPicPr>
          <p:cNvPr descr="image.png" id="145" name="Google Shape;145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23925" y="2786062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6" name="Google Shape;146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23925" y="3633787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7" name="Google Shape;147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23925" y="4481512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8" name="Google Shape;148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677025" y="2786062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9" name="Google Shape;149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677025" y="3633787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0" name="Google Shape;150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677025" y="4481512"/>
            <a:ext cx="209550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6"/>
          <p:cNvSpPr txBox="1"/>
          <p:nvPr/>
        </p:nvSpPr>
        <p:spPr>
          <a:xfrm>
            <a:off x="752475" y="581025"/>
            <a:ext cx="11401425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50" u="none" cap="none" strike="noStrike">
                <a:solidFill>
                  <a:srgbClr val="10B981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3. Objectives &amp; Project Scope</a:t>
            </a:r>
            <a:endParaRPr/>
          </a:p>
        </p:txBody>
      </p:sp>
      <p:sp>
        <p:nvSpPr>
          <p:cNvPr id="152" name="Google Shape;152;p16"/>
          <p:cNvSpPr/>
          <p:nvPr/>
        </p:nvSpPr>
        <p:spPr>
          <a:xfrm>
            <a:off x="581025" y="581025"/>
            <a:ext cx="47625" cy="43815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527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7" name="Google Shape;15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7"/>
          <p:cNvSpPr txBox="1"/>
          <p:nvPr/>
        </p:nvSpPr>
        <p:spPr>
          <a:xfrm>
            <a:off x="2120819" y="2849909"/>
            <a:ext cx="7950212" cy="613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4. Technical Pipeline Architecture</a:t>
            </a:r>
            <a:endParaRPr/>
          </a:p>
        </p:txBody>
      </p:sp>
      <p:sp>
        <p:nvSpPr>
          <p:cNvPr id="159" name="Google Shape;159;p17"/>
          <p:cNvSpPr txBox="1"/>
          <p:nvPr/>
        </p:nvSpPr>
        <p:spPr>
          <a:xfrm>
            <a:off x="1809750" y="3653730"/>
            <a:ext cx="8572500" cy="639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Methodological progression from raw multi-file CSV network streams to synthesized class inference.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527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4" name="Google Shape;164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5" name="Google Shape;165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790700"/>
            <a:ext cx="5276850" cy="4048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6" name="Google Shape;166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098059" y="2505075"/>
            <a:ext cx="3748980" cy="409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7" name="Google Shape;167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098059" y="3381375"/>
            <a:ext cx="3748980" cy="409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8" name="Google Shape;168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098059" y="4257675"/>
            <a:ext cx="3748980" cy="409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9" name="Google Shape;169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098059" y="5133975"/>
            <a:ext cx="3748980" cy="409575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8"/>
          <p:cNvSpPr txBox="1"/>
          <p:nvPr/>
        </p:nvSpPr>
        <p:spPr>
          <a:xfrm>
            <a:off x="7767637" y="2085975"/>
            <a:ext cx="2409825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0B981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DATA STREAM PROCESSING FLOW</a:t>
            </a:r>
            <a:endParaRPr/>
          </a:p>
        </p:txBody>
      </p:sp>
      <p:sp>
        <p:nvSpPr>
          <p:cNvPr id="171" name="Google Shape;171;p18"/>
          <p:cNvSpPr txBox="1"/>
          <p:nvPr/>
        </p:nvSpPr>
        <p:spPr>
          <a:xfrm>
            <a:off x="1009650" y="1509712"/>
            <a:ext cx="484822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Memory Management: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Chunked ingestion constrained to 5,000 rows per file; 64-bit data points are cast to space-efficient 32-bit blocks.</a:t>
            </a:r>
            <a:endParaRPr/>
          </a:p>
        </p:txBody>
      </p:sp>
      <p:sp>
        <p:nvSpPr>
          <p:cNvPr id="172" name="Google Shape;172;p18"/>
          <p:cNvSpPr txBox="1"/>
          <p:nvPr/>
        </p:nvSpPr>
        <p:spPr>
          <a:xfrm>
            <a:off x="1009650" y="2662237"/>
            <a:ext cx="484822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Cleansing Subsystem: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Structural feature normalization, redundant deduplication, and missing element array corrections.</a:t>
            </a:r>
            <a:endParaRPr/>
          </a:p>
        </p:txBody>
      </p:sp>
      <p:sp>
        <p:nvSpPr>
          <p:cNvPr id="173" name="Google Shape;173;p18"/>
          <p:cNvSpPr txBox="1"/>
          <p:nvPr/>
        </p:nvSpPr>
        <p:spPr>
          <a:xfrm>
            <a:off x="1009650" y="3814762"/>
            <a:ext cx="484822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Feature Scaling: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Transforming categorical protocols into target labels, using standard normalization routines.</a:t>
            </a:r>
            <a:endParaRPr/>
          </a:p>
        </p:txBody>
      </p:sp>
      <p:sp>
        <p:nvSpPr>
          <p:cNvPr id="174" name="Google Shape;174;p18"/>
          <p:cNvSpPr txBox="1"/>
          <p:nvPr/>
        </p:nvSpPr>
        <p:spPr>
          <a:xfrm>
            <a:off x="1009650" y="4967287"/>
            <a:ext cx="484822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SMOTE Sampling: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Eliminates model bias favoring dominant groups by rendering synthetically derived minority elements.</a:t>
            </a:r>
            <a:endParaRPr/>
          </a:p>
        </p:txBody>
      </p:sp>
      <p:pic>
        <p:nvPicPr>
          <p:cNvPr descr="image.png" id="175" name="Google Shape;175;p1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915400" y="3067050"/>
            <a:ext cx="1143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6" name="Google Shape;176;p1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915400" y="3943350"/>
            <a:ext cx="1143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7" name="Google Shape;177;p1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915400" y="4819650"/>
            <a:ext cx="1143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8" name="Google Shape;178;p18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81025" y="1543050"/>
            <a:ext cx="1809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9" name="Google Shape;179;p18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81025" y="2695575"/>
            <a:ext cx="23812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0" name="Google Shape;180;p18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581025" y="3848100"/>
            <a:ext cx="26670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1" name="Google Shape;181;p18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581025" y="5000625"/>
            <a:ext cx="266700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18"/>
          <p:cNvSpPr txBox="1"/>
          <p:nvPr/>
        </p:nvSpPr>
        <p:spPr>
          <a:xfrm>
            <a:off x="752475" y="581025"/>
            <a:ext cx="11401425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50" u="none" cap="none" strike="noStrike">
                <a:solidFill>
                  <a:srgbClr val="10B981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5. Data Engineering &amp; Preprocessing Pipeline</a:t>
            </a:r>
            <a:endParaRPr/>
          </a:p>
        </p:txBody>
      </p:sp>
      <p:sp>
        <p:nvSpPr>
          <p:cNvPr id="183" name="Google Shape;183;p18"/>
          <p:cNvSpPr/>
          <p:nvPr/>
        </p:nvSpPr>
        <p:spPr>
          <a:xfrm>
            <a:off x="581025" y="581025"/>
            <a:ext cx="47625" cy="43815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527"/>
        </a:solidFill>
      </p:bgPr>
    </p:bg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8" name="Google Shape;188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9" name="Google Shape;189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209651"/>
            <a:ext cx="5276850" cy="3209925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19"/>
          <p:cNvSpPr txBox="1"/>
          <p:nvPr/>
        </p:nvSpPr>
        <p:spPr>
          <a:xfrm>
            <a:off x="581025" y="2223194"/>
            <a:ext cx="5276850" cy="8684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The system builds a **Residual-style Deep Neural Network (DNN)** specifically optimized for dense, high-dimensional tabular classification structures.</a:t>
            </a:r>
            <a:endParaRPr/>
          </a:p>
        </p:txBody>
      </p:sp>
      <p:sp>
        <p:nvSpPr>
          <p:cNvPr id="191" name="Google Shape;191;p19"/>
          <p:cNvSpPr txBox="1"/>
          <p:nvPr/>
        </p:nvSpPr>
        <p:spPr>
          <a:xfrm>
            <a:off x="1009650" y="3282106"/>
            <a:ext cx="484822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Regularized Blocks: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Implements sequential BatchNormalization layers paired with target Dropout fractions to stifle early over-fitting conditions.</a:t>
            </a:r>
            <a:endParaRPr/>
          </a:p>
        </p:txBody>
      </p:sp>
      <p:sp>
        <p:nvSpPr>
          <p:cNvPr id="192" name="Google Shape;192;p19"/>
          <p:cNvSpPr txBox="1"/>
          <p:nvPr/>
        </p:nvSpPr>
        <p:spPr>
          <a:xfrm>
            <a:off x="1009650" y="4434631"/>
            <a:ext cx="484822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Skip Connections: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Introduces structural bypass routing paths between blocks to guarantee steady, non-vanishing gradient flows.</a:t>
            </a:r>
            <a:endParaRPr/>
          </a:p>
        </p:txBody>
      </p:sp>
      <p:pic>
        <p:nvPicPr>
          <p:cNvPr descr="image.png" id="193" name="Google Shape;193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3315444"/>
            <a:ext cx="23812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4" name="Google Shape;194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4467969"/>
            <a:ext cx="161925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19"/>
          <p:cNvSpPr txBox="1"/>
          <p:nvPr/>
        </p:nvSpPr>
        <p:spPr>
          <a:xfrm>
            <a:off x="752475" y="581025"/>
            <a:ext cx="11401425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50" u="none" cap="none" strike="noStrike">
                <a:solidFill>
                  <a:srgbClr val="10B981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6. Deep Neural Network Design</a:t>
            </a:r>
            <a:endParaRPr/>
          </a:p>
        </p:txBody>
      </p:sp>
      <p:sp>
        <p:nvSpPr>
          <p:cNvPr id="196" name="Google Shape;196;p19"/>
          <p:cNvSpPr/>
          <p:nvPr/>
        </p:nvSpPr>
        <p:spPr>
          <a:xfrm>
            <a:off x="581025" y="581025"/>
            <a:ext cx="47625" cy="43815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527"/>
        </a:soli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1" name="Google Shape;201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2" name="Google Shape;202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976711"/>
            <a:ext cx="2586037" cy="276195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3" name="Google Shape;203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395662" y="2976711"/>
            <a:ext cx="2586037" cy="276195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4" name="Google Shape;204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10300" y="2976711"/>
            <a:ext cx="2586037" cy="276195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5" name="Google Shape;205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024937" y="2976711"/>
            <a:ext cx="2586037" cy="2761952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0"/>
          <p:cNvSpPr txBox="1"/>
          <p:nvPr/>
        </p:nvSpPr>
        <p:spPr>
          <a:xfrm>
            <a:off x="581025" y="2081361"/>
            <a:ext cx="110299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To minimize structural variance and exploit algorithmic properties across divergent processing styles, the system implements a weighted soft-voting optimization engine.</a:t>
            </a:r>
            <a:endParaRPr/>
          </a:p>
        </p:txBody>
      </p:sp>
      <p:sp>
        <p:nvSpPr>
          <p:cNvPr id="207" name="Google Shape;207;p20"/>
          <p:cNvSpPr txBox="1"/>
          <p:nvPr/>
        </p:nvSpPr>
        <p:spPr>
          <a:xfrm>
            <a:off x="895325" y="3434199"/>
            <a:ext cx="1609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Deep Network Core</a:t>
            </a:r>
            <a:endParaRPr/>
          </a:p>
        </p:txBody>
      </p:sp>
      <p:sp>
        <p:nvSpPr>
          <p:cNvPr id="208" name="Google Shape;208;p20"/>
          <p:cNvSpPr txBox="1"/>
          <p:nvPr/>
        </p:nvSpPr>
        <p:spPr>
          <a:xfrm>
            <a:off x="819225" y="3895900"/>
            <a:ext cx="1609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30%</a:t>
            </a:r>
            <a:r>
              <a:rPr b="1" lang="en-US" sz="2400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b="1" i="0" lang="en-US" sz="24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Weight</a:t>
            </a:r>
            <a:endParaRPr/>
          </a:p>
        </p:txBody>
      </p:sp>
      <p:sp>
        <p:nvSpPr>
          <p:cNvPr id="209" name="Google Shape;209;p20"/>
          <p:cNvSpPr txBox="1"/>
          <p:nvPr/>
        </p:nvSpPr>
        <p:spPr>
          <a:xfrm>
            <a:off x="828675" y="4265200"/>
            <a:ext cx="2090700" cy="13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Captures non-linear feature cross-interactions and latent feature structures via high-dimensional abstraction spaces.</a:t>
            </a:r>
            <a:endParaRPr/>
          </a:p>
        </p:txBody>
      </p:sp>
      <p:sp>
        <p:nvSpPr>
          <p:cNvPr id="210" name="Google Shape;210;p20"/>
          <p:cNvSpPr txBox="1"/>
          <p:nvPr/>
        </p:nvSpPr>
        <p:spPr>
          <a:xfrm>
            <a:off x="3643312" y="3348186"/>
            <a:ext cx="14954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LightGBM Engine</a:t>
            </a:r>
            <a:endParaRPr/>
          </a:p>
        </p:txBody>
      </p:sp>
      <p:sp>
        <p:nvSpPr>
          <p:cNvPr id="211" name="Google Shape;211;p20"/>
          <p:cNvSpPr txBox="1"/>
          <p:nvPr/>
        </p:nvSpPr>
        <p:spPr>
          <a:xfrm>
            <a:off x="3643312" y="3672036"/>
            <a:ext cx="1609725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25% Weight</a:t>
            </a:r>
            <a:endParaRPr/>
          </a:p>
        </p:txBody>
      </p:sp>
      <p:sp>
        <p:nvSpPr>
          <p:cNvPr id="212" name="Google Shape;212;p20"/>
          <p:cNvSpPr txBox="1"/>
          <p:nvPr/>
        </p:nvSpPr>
        <p:spPr>
          <a:xfrm>
            <a:off x="3567150" y="4413077"/>
            <a:ext cx="2166900" cy="107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Executes rapid leaf-wise growth splits focused primarily on variance performance drops.</a:t>
            </a:r>
            <a:endParaRPr/>
          </a:p>
        </p:txBody>
      </p:sp>
      <p:sp>
        <p:nvSpPr>
          <p:cNvPr id="213" name="Google Shape;213;p20"/>
          <p:cNvSpPr txBox="1"/>
          <p:nvPr/>
        </p:nvSpPr>
        <p:spPr>
          <a:xfrm>
            <a:off x="6457950" y="3348186"/>
            <a:ext cx="18478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XGBoost Architecture</a:t>
            </a:r>
            <a:endParaRPr/>
          </a:p>
        </p:txBody>
      </p:sp>
      <p:sp>
        <p:nvSpPr>
          <p:cNvPr id="214" name="Google Shape;214;p20"/>
          <p:cNvSpPr txBox="1"/>
          <p:nvPr/>
        </p:nvSpPr>
        <p:spPr>
          <a:xfrm>
            <a:off x="6457950" y="3672036"/>
            <a:ext cx="1609725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59E0B"/>
                </a:solidFill>
                <a:latin typeface="Urbanist"/>
                <a:ea typeface="Urbanist"/>
                <a:cs typeface="Urbanist"/>
                <a:sym typeface="Urbanist"/>
              </a:rPr>
              <a:t>20% Weight</a:t>
            </a:r>
            <a:endParaRPr/>
          </a:p>
        </p:txBody>
      </p:sp>
      <p:sp>
        <p:nvSpPr>
          <p:cNvPr id="215" name="Google Shape;215;p20"/>
          <p:cNvSpPr txBox="1"/>
          <p:nvPr/>
        </p:nvSpPr>
        <p:spPr>
          <a:xfrm>
            <a:off x="6457925" y="4413076"/>
            <a:ext cx="2090700" cy="107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Utilizes histogram-based search paths coupled with regularization constraints to eliminate decision errors.</a:t>
            </a:r>
            <a:endParaRPr/>
          </a:p>
        </p:txBody>
      </p:sp>
      <p:sp>
        <p:nvSpPr>
          <p:cNvPr id="216" name="Google Shape;216;p20"/>
          <p:cNvSpPr txBox="1"/>
          <p:nvPr/>
        </p:nvSpPr>
        <p:spPr>
          <a:xfrm>
            <a:off x="9272587" y="3348186"/>
            <a:ext cx="16287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CatBoost Classifier</a:t>
            </a:r>
            <a:endParaRPr/>
          </a:p>
        </p:txBody>
      </p:sp>
      <p:sp>
        <p:nvSpPr>
          <p:cNvPr id="217" name="Google Shape;217;p20"/>
          <p:cNvSpPr txBox="1"/>
          <p:nvPr/>
        </p:nvSpPr>
        <p:spPr>
          <a:xfrm>
            <a:off x="9272587" y="3672036"/>
            <a:ext cx="1609725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EC4899"/>
                </a:solidFill>
                <a:latin typeface="Urbanist"/>
                <a:ea typeface="Urbanist"/>
                <a:cs typeface="Urbanist"/>
                <a:sym typeface="Urbanist"/>
              </a:rPr>
              <a:t>25% Weight</a:t>
            </a:r>
            <a:endParaRPr/>
          </a:p>
        </p:txBody>
      </p:sp>
      <p:sp>
        <p:nvSpPr>
          <p:cNvPr id="218" name="Google Shape;218;p20"/>
          <p:cNvSpPr txBox="1"/>
          <p:nvPr/>
        </p:nvSpPr>
        <p:spPr>
          <a:xfrm>
            <a:off x="9272625" y="4406023"/>
            <a:ext cx="2090700" cy="13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Handles high-frequency categorical vectors natively without suffering from typical processing prediction shifts.</a:t>
            </a:r>
            <a:endParaRPr/>
          </a:p>
        </p:txBody>
      </p:sp>
      <p:sp>
        <p:nvSpPr>
          <p:cNvPr id="219" name="Google Shape;219;p20"/>
          <p:cNvSpPr txBox="1"/>
          <p:nvPr/>
        </p:nvSpPr>
        <p:spPr>
          <a:xfrm>
            <a:off x="752475" y="581025"/>
            <a:ext cx="11401425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50" u="none" cap="none" strike="noStrike">
                <a:solidFill>
                  <a:srgbClr val="10B981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7. Soft-Voting Hybrid Ensemble Configuration</a:t>
            </a:r>
            <a:endParaRPr/>
          </a:p>
        </p:txBody>
      </p:sp>
      <p:sp>
        <p:nvSpPr>
          <p:cNvPr id="220" name="Google Shape;220;p20"/>
          <p:cNvSpPr/>
          <p:nvPr/>
        </p:nvSpPr>
        <p:spPr>
          <a:xfrm>
            <a:off x="581025" y="581025"/>
            <a:ext cx="47625" cy="43815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527"/>
        </a:solidFill>
      </p:bgPr>
    </p:bg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5" name="Google Shape;225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6" name="Google Shape;226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5667375"/>
            <a:ext cx="11029950" cy="68952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27" name="Google Shape;227;p21"/>
          <p:cNvGraphicFramePr/>
          <p:nvPr/>
        </p:nvGraphicFramePr>
        <p:xfrm>
          <a:off x="581025" y="135255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{AA2B881F-807E-42D7-9285-3DA08A9352FA}</a:tableStyleId>
              </a:tblPr>
              <a:tblGrid>
                <a:gridCol w="3171675"/>
                <a:gridCol w="2867775"/>
                <a:gridCol w="4971450"/>
              </a:tblGrid>
              <a:tr h="671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FFFFFF"/>
                          </a:solidFill>
                          <a:latin typeface="Urbanist SemiBold"/>
                          <a:ea typeface="Urbanist SemiBold"/>
                          <a:cs typeface="Urbanist SemiBold"/>
                          <a:sym typeface="Urbanist SemiBold"/>
                        </a:rPr>
                        <a:t>Framework Model Target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FFFFFF"/>
                          </a:solidFill>
                          <a:latin typeface="Urbanist SemiBold"/>
                          <a:ea typeface="Urbanist SemiBold"/>
                          <a:cs typeface="Urbanist SemiBold"/>
                          <a:sym typeface="Urbanist SemiBold"/>
                        </a:rPr>
                        <a:t>Classification Accuracy Score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FFFFFF"/>
                          </a:solidFill>
                          <a:latin typeface="Urbanist SemiBold"/>
                          <a:ea typeface="Urbanist SemiBold"/>
                          <a:cs typeface="Urbanist SemiBold"/>
                          <a:sym typeface="Urbanist SemiBold"/>
                        </a:rPr>
                        <a:t>Structural Paradigm Benefits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0B981"/>
                    </a:solidFill>
                  </a:tcPr>
                </a:tc>
              </a:tr>
              <a:tr h="671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CBD5E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Deep Neural Network (DNN)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CBD5E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High Baseline Metric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CBD5E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Excellent high-dimensional structure abstraction capacity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</a:tr>
              <a:tr h="671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CBD5E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Light Gradient Boosting (LightGBM)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CBD5E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Highly Competitive Metric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CBD5E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Extremely lean execution speeds with reduced memory footprint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</a:tr>
              <a:tr h="671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CBD5E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Extreme Gradient Boosting (XGBoost)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CBD5E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Robust Validated Metric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CBD5E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Regularized loss constraints minimize data distortion noise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</a:tr>
              <a:tr h="671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CBD5E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CatBoost Infrastructure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CBD5E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Optimized Target Metric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CBD5E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Unbiased target conversions preserve categorical properties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</a:tr>
              <a:tr h="6715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10B98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🏆 Soft-Voting Ensemble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10B98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Maximum Peak Evaluation Metric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10B98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Eliminates individual weak model bias boundaries entirely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  <p:sp>
        <p:nvSpPr>
          <p:cNvPr id="228" name="Google Shape;228;p21"/>
          <p:cNvSpPr txBox="1"/>
          <p:nvPr/>
        </p:nvSpPr>
        <p:spPr>
          <a:xfrm>
            <a:off x="781050" y="5867400"/>
            <a:ext cx="10629900" cy="289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0975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10B98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Summary: The unified ensemble architecture guarantees high precision/recall bounds across critical sparse classes.</a:t>
            </a:r>
            <a:endParaRPr/>
          </a:p>
        </p:txBody>
      </p:sp>
      <p:sp>
        <p:nvSpPr>
          <p:cNvPr id="229" name="Google Shape;229;p21"/>
          <p:cNvSpPr/>
          <p:nvPr/>
        </p:nvSpPr>
        <p:spPr>
          <a:xfrm>
            <a:off x="590550" y="1933575"/>
            <a:ext cx="3171676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21"/>
          <p:cNvSpPr/>
          <p:nvPr/>
        </p:nvSpPr>
        <p:spPr>
          <a:xfrm>
            <a:off x="3762226" y="1933575"/>
            <a:ext cx="2867769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21"/>
          <p:cNvSpPr/>
          <p:nvPr/>
        </p:nvSpPr>
        <p:spPr>
          <a:xfrm>
            <a:off x="6629995" y="1933575"/>
            <a:ext cx="4971454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1"/>
          <p:cNvSpPr/>
          <p:nvPr/>
        </p:nvSpPr>
        <p:spPr>
          <a:xfrm>
            <a:off x="590550" y="2495550"/>
            <a:ext cx="3171676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1"/>
          <p:cNvSpPr/>
          <p:nvPr/>
        </p:nvSpPr>
        <p:spPr>
          <a:xfrm>
            <a:off x="3762226" y="2495550"/>
            <a:ext cx="2867769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1"/>
          <p:cNvSpPr/>
          <p:nvPr/>
        </p:nvSpPr>
        <p:spPr>
          <a:xfrm>
            <a:off x="6629995" y="2495550"/>
            <a:ext cx="4971454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1"/>
          <p:cNvSpPr/>
          <p:nvPr/>
        </p:nvSpPr>
        <p:spPr>
          <a:xfrm>
            <a:off x="590550" y="3267075"/>
            <a:ext cx="3171676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1"/>
          <p:cNvSpPr/>
          <p:nvPr/>
        </p:nvSpPr>
        <p:spPr>
          <a:xfrm>
            <a:off x="3762226" y="3267075"/>
            <a:ext cx="2867769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1"/>
          <p:cNvSpPr/>
          <p:nvPr/>
        </p:nvSpPr>
        <p:spPr>
          <a:xfrm>
            <a:off x="6629995" y="3267075"/>
            <a:ext cx="4971454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21"/>
          <p:cNvSpPr/>
          <p:nvPr/>
        </p:nvSpPr>
        <p:spPr>
          <a:xfrm>
            <a:off x="590550" y="4038600"/>
            <a:ext cx="3171676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1"/>
          <p:cNvSpPr/>
          <p:nvPr/>
        </p:nvSpPr>
        <p:spPr>
          <a:xfrm>
            <a:off x="3762226" y="4038600"/>
            <a:ext cx="2867769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21"/>
          <p:cNvSpPr/>
          <p:nvPr/>
        </p:nvSpPr>
        <p:spPr>
          <a:xfrm>
            <a:off x="6629995" y="4038600"/>
            <a:ext cx="4971454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21"/>
          <p:cNvSpPr/>
          <p:nvPr/>
        </p:nvSpPr>
        <p:spPr>
          <a:xfrm>
            <a:off x="590550" y="4600575"/>
            <a:ext cx="3171676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21"/>
          <p:cNvSpPr/>
          <p:nvPr/>
        </p:nvSpPr>
        <p:spPr>
          <a:xfrm>
            <a:off x="3762226" y="4600575"/>
            <a:ext cx="2867769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21"/>
          <p:cNvSpPr/>
          <p:nvPr/>
        </p:nvSpPr>
        <p:spPr>
          <a:xfrm>
            <a:off x="6629995" y="4600575"/>
            <a:ext cx="4971454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44" name="Google Shape;244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95362" y="5915025"/>
            <a:ext cx="180975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21"/>
          <p:cNvSpPr txBox="1"/>
          <p:nvPr/>
        </p:nvSpPr>
        <p:spPr>
          <a:xfrm>
            <a:off x="752475" y="581025"/>
            <a:ext cx="11401425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50" u="none" cap="none" strike="noStrike">
                <a:solidFill>
                  <a:srgbClr val="10B981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8. Experimental Results &amp; Model Comparisons</a:t>
            </a:r>
            <a:endParaRPr/>
          </a:p>
        </p:txBody>
      </p:sp>
      <p:sp>
        <p:nvSpPr>
          <p:cNvPr id="246" name="Google Shape;246;p21"/>
          <p:cNvSpPr/>
          <p:nvPr/>
        </p:nvSpPr>
        <p:spPr>
          <a:xfrm>
            <a:off x="581025" y="581025"/>
            <a:ext cx="47625" cy="43815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527"/>
        </a:solidFill>
      </p:bgPr>
    </p:bg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1" name="Google Shape;251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2"/>
          <p:cNvSpPr txBox="1"/>
          <p:nvPr/>
        </p:nvSpPr>
        <p:spPr>
          <a:xfrm>
            <a:off x="1762125" y="2119312"/>
            <a:ext cx="9096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Proven Defense Framework: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Built a lightweight multi-classifier capable of hunting diverse attack sequences on the RT-IoT2022 dataset.</a:t>
            </a:r>
            <a:endParaRPr/>
          </a:p>
        </p:txBody>
      </p:sp>
      <p:sp>
        <p:nvSpPr>
          <p:cNvPr id="253" name="Google Shape;253;p22"/>
          <p:cNvSpPr txBox="1"/>
          <p:nvPr/>
        </p:nvSpPr>
        <p:spPr>
          <a:xfrm>
            <a:off x="1762125" y="2967037"/>
            <a:ext cx="9096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Optimized Resource footprint: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Downcasted variables combined with tree structures maximize feasibility limits for local edge systems.</a:t>
            </a:r>
            <a:endParaRPr/>
          </a:p>
        </p:txBody>
      </p:sp>
      <p:sp>
        <p:nvSpPr>
          <p:cNvPr id="254" name="Google Shape;254;p22"/>
          <p:cNvSpPr txBox="1"/>
          <p:nvPr/>
        </p:nvSpPr>
        <p:spPr>
          <a:xfrm>
            <a:off x="1762125" y="3814762"/>
            <a:ext cx="9096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Mitigated Class Bias: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Integrating SMOTE transformations prevented system blindness toward low-frequency intrusion variants.</a:t>
            </a:r>
            <a:endParaRPr/>
          </a:p>
        </p:txBody>
      </p:sp>
      <p:sp>
        <p:nvSpPr>
          <p:cNvPr id="255" name="Google Shape;255;p22"/>
          <p:cNvSpPr txBox="1"/>
          <p:nvPr/>
        </p:nvSpPr>
        <p:spPr>
          <a:xfrm>
            <a:off x="1762125" y="4662487"/>
            <a:ext cx="9096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Production Readiness: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Includes fully serialized pipeline objects (scalers, encoders) to guarantee direct out-of-the-box data inference.</a:t>
            </a:r>
            <a:endParaRPr/>
          </a:p>
        </p:txBody>
      </p:sp>
      <p:pic>
        <p:nvPicPr>
          <p:cNvPr descr="image.png" id="256" name="Google Shape;256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33500" y="2152650"/>
            <a:ext cx="1809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7" name="Google Shape;257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33500" y="3000375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8" name="Google Shape;258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333500" y="3848100"/>
            <a:ext cx="23812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9" name="Google Shape;259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333500" y="4695825"/>
            <a:ext cx="209550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22"/>
          <p:cNvSpPr txBox="1"/>
          <p:nvPr/>
        </p:nvSpPr>
        <p:spPr>
          <a:xfrm>
            <a:off x="752475" y="581025"/>
            <a:ext cx="11401425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50" u="none" cap="none" strike="noStrike">
                <a:solidFill>
                  <a:srgbClr val="10B981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9. Structural Conclusions</a:t>
            </a:r>
            <a:endParaRPr/>
          </a:p>
        </p:txBody>
      </p:sp>
      <p:sp>
        <p:nvSpPr>
          <p:cNvPr id="261" name="Google Shape;261;p22"/>
          <p:cNvSpPr/>
          <p:nvPr/>
        </p:nvSpPr>
        <p:spPr>
          <a:xfrm>
            <a:off x="581025" y="581025"/>
            <a:ext cx="47625" cy="43815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527"/>
        </a:solidFill>
      </p:bgPr>
    </p:bg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6" name="Google Shape;266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7" name="Google Shape;267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073771"/>
            <a:ext cx="3524250" cy="34819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8" name="Google Shape;268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33875" y="2073771"/>
            <a:ext cx="3524250" cy="34819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9" name="Google Shape;269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86725" y="2073771"/>
            <a:ext cx="3524250" cy="34819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0" name="Google Shape;270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28675" y="2416671"/>
            <a:ext cx="66675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23"/>
          <p:cNvSpPr txBox="1"/>
          <p:nvPr/>
        </p:nvSpPr>
        <p:spPr>
          <a:xfrm>
            <a:off x="828675" y="3273921"/>
            <a:ext cx="2330291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38BDF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Real-Time Ingestion</a:t>
            </a:r>
            <a:endParaRPr/>
          </a:p>
        </p:txBody>
      </p:sp>
      <p:sp>
        <p:nvSpPr>
          <p:cNvPr id="272" name="Google Shape;272;p23"/>
          <p:cNvSpPr txBox="1"/>
          <p:nvPr/>
        </p:nvSpPr>
        <p:spPr>
          <a:xfrm>
            <a:off x="828675" y="3873996"/>
            <a:ext cx="3028950" cy="11578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Migrating static dataset pipelines toward inline live message brokers (e.g., Apache Kafka) for true streaming evaluation loops.</a:t>
            </a:r>
            <a:endParaRPr/>
          </a:p>
        </p:txBody>
      </p:sp>
      <p:pic>
        <p:nvPicPr>
          <p:cNvPr descr="image.png" id="273" name="Google Shape;273;p2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581525" y="2416671"/>
            <a:ext cx="66675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23"/>
          <p:cNvSpPr txBox="1"/>
          <p:nvPr/>
        </p:nvSpPr>
        <p:spPr>
          <a:xfrm>
            <a:off x="4581525" y="3273921"/>
            <a:ext cx="196024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38BDF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Edge Computing</a:t>
            </a:r>
            <a:endParaRPr/>
          </a:p>
        </p:txBody>
      </p:sp>
      <p:sp>
        <p:nvSpPr>
          <p:cNvPr id="275" name="Google Shape;275;p23"/>
          <p:cNvSpPr txBox="1"/>
          <p:nvPr/>
        </p:nvSpPr>
        <p:spPr>
          <a:xfrm>
            <a:off x="4581525" y="3873996"/>
            <a:ext cx="3028950" cy="11578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Deploying model architectures to micro-controllers using hardware compression strategies like quantization and pruning.</a:t>
            </a:r>
            <a:endParaRPr/>
          </a:p>
        </p:txBody>
      </p:sp>
      <p:pic>
        <p:nvPicPr>
          <p:cNvPr descr="image.png" id="276" name="Google Shape;276;p2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334375" y="2416671"/>
            <a:ext cx="66675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23"/>
          <p:cNvSpPr txBox="1"/>
          <p:nvPr/>
        </p:nvSpPr>
        <p:spPr>
          <a:xfrm>
            <a:off x="8334375" y="3273921"/>
            <a:ext cx="2340292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38BDF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Explainable AI (XAI)</a:t>
            </a:r>
            <a:endParaRPr/>
          </a:p>
        </p:txBody>
      </p:sp>
      <p:sp>
        <p:nvSpPr>
          <p:cNvPr id="278" name="Google Shape;278;p23"/>
          <p:cNvSpPr txBox="1"/>
          <p:nvPr/>
        </p:nvSpPr>
        <p:spPr>
          <a:xfrm>
            <a:off x="8334375" y="3873996"/>
            <a:ext cx="3028950" cy="11578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Integrating SHAP and LIME algorithms to provide transparent, human-auditable reasoning behind every threat classification.</a:t>
            </a:r>
            <a:endParaRPr/>
          </a:p>
        </p:txBody>
      </p:sp>
      <p:pic>
        <p:nvPicPr>
          <p:cNvPr descr="image.png" id="279" name="Google Shape;279;p2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47737" y="2578596"/>
            <a:ext cx="428625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0" name="Google Shape;280;p23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700587" y="2578596"/>
            <a:ext cx="428625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1" name="Google Shape;281;p23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8472487" y="2578596"/>
            <a:ext cx="390525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23"/>
          <p:cNvSpPr txBox="1"/>
          <p:nvPr/>
        </p:nvSpPr>
        <p:spPr>
          <a:xfrm>
            <a:off x="752475" y="581025"/>
            <a:ext cx="11401425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50" u="none" cap="none" strike="noStrike">
                <a:solidFill>
                  <a:srgbClr val="10B981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10. Future Horizons &amp; Extensions</a:t>
            </a:r>
            <a:endParaRPr/>
          </a:p>
        </p:txBody>
      </p:sp>
      <p:sp>
        <p:nvSpPr>
          <p:cNvPr id="283" name="Google Shape;283;p23"/>
          <p:cNvSpPr/>
          <p:nvPr/>
        </p:nvSpPr>
        <p:spPr>
          <a:xfrm>
            <a:off x="581025" y="581025"/>
            <a:ext cx="47625" cy="43815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527"/>
        </a:solidFill>
      </p:bgPr>
    </p:bg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88" name="Google Shape;28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24"/>
          <p:cNvSpPr txBox="1"/>
          <p:nvPr/>
        </p:nvSpPr>
        <p:spPr>
          <a:xfrm>
            <a:off x="4460486" y="2124075"/>
            <a:ext cx="3270877" cy="78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49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Thank You</a:t>
            </a:r>
            <a:endParaRPr/>
          </a:p>
        </p:txBody>
      </p:sp>
      <p:sp>
        <p:nvSpPr>
          <p:cNvPr id="290" name="Google Shape;290;p24"/>
          <p:cNvSpPr txBox="1"/>
          <p:nvPr/>
        </p:nvSpPr>
        <p:spPr>
          <a:xfrm>
            <a:off x="4319587" y="3007965"/>
            <a:ext cx="3552825" cy="3466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10B98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Questions &amp; Answers Session</a:t>
            </a:r>
            <a:endParaRPr/>
          </a:p>
        </p:txBody>
      </p:sp>
      <p:sp>
        <p:nvSpPr>
          <p:cNvPr id="291" name="Google Shape;291;p24"/>
          <p:cNvSpPr txBox="1"/>
          <p:nvPr/>
        </p:nvSpPr>
        <p:spPr>
          <a:xfrm>
            <a:off x="3514725" y="4288035"/>
            <a:ext cx="51625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ML-Based Intrusion Detection Framework for IoT Environments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